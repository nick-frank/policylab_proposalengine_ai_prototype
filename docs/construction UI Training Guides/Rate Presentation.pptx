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5"/>
    <p:sldMasterId id="2147483652" r:id="rId6"/>
    <p:sldMasterId id="2147483658" r:id="rId7"/>
  </p:sldMasterIdLst>
  <p:notesMasterIdLst>
    <p:notesMasterId r:id="rId24"/>
  </p:notesMasterIdLst>
  <p:handoutMasterIdLst>
    <p:handoutMasterId r:id="rId25"/>
  </p:handoutMasterIdLst>
  <p:sldIdLst>
    <p:sldId id="264" r:id="rId8"/>
    <p:sldId id="282" r:id="rId9"/>
    <p:sldId id="283" r:id="rId10"/>
    <p:sldId id="279" r:id="rId11"/>
    <p:sldId id="289" r:id="rId12"/>
    <p:sldId id="281" r:id="rId13"/>
    <p:sldId id="284" r:id="rId14"/>
    <p:sldId id="292" r:id="rId15"/>
    <p:sldId id="285" r:id="rId16"/>
    <p:sldId id="290" r:id="rId17"/>
    <p:sldId id="291" r:id="rId18"/>
    <p:sldId id="286" r:id="rId19"/>
    <p:sldId id="293" r:id="rId20"/>
    <p:sldId id="287" r:id="rId21"/>
    <p:sldId id="288" r:id="rId22"/>
    <p:sldId id="272" r:id="rId23"/>
  </p:sldIdLst>
  <p:sldSz cx="9144000" cy="6858000" type="screen4x3"/>
  <p:notesSz cx="70104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0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234"/>
    <a:srgbClr val="3A3B44"/>
    <a:srgbClr val="6163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4" autoAdjust="0"/>
    <p:restoredTop sz="94660"/>
  </p:normalViewPr>
  <p:slideViewPr>
    <p:cSldViewPr>
      <p:cViewPr varScale="1">
        <p:scale>
          <a:sx n="115" d="100"/>
          <a:sy n="115" d="100"/>
        </p:scale>
        <p:origin x="154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2040" y="-120"/>
      </p:cViewPr>
      <p:guideLst>
        <p:guide orient="horz" pos="2960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 dirty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 dirty="0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4961"/>
            <a:ext cx="3037840" cy="46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 dirty="0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924961"/>
            <a:ext cx="3037840" cy="46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288986A-B212-4DE0-A41A-9BB4672A7C32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4439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938" y="0"/>
            <a:ext cx="3037840" cy="46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7288" y="704850"/>
            <a:ext cx="4695825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63297"/>
            <a:ext cx="5608320" cy="4228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4961"/>
            <a:ext cx="3037840" cy="46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924961"/>
            <a:ext cx="3037840" cy="469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278" tIns="47139" rIns="94278" bIns="4713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FDDD379-DEB4-498B-813A-53A2A38B24F2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556200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9" name="Picture 9" descr="MKS_18mm_R_G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5681663"/>
            <a:ext cx="685800" cy="81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0" name="Picture 8" descr="pp_device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242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7" name="Title Placeholder 1"/>
          <p:cNvSpPr>
            <a:spLocks noGrp="1"/>
          </p:cNvSpPr>
          <p:nvPr>
            <p:ph type="ctrTitle"/>
          </p:nvPr>
        </p:nvSpPr>
        <p:spPr>
          <a:xfrm>
            <a:off x="247650" y="2586038"/>
            <a:ext cx="8532813" cy="3109912"/>
          </a:xfrm>
        </p:spPr>
        <p:txBody>
          <a:bodyPr anchor="t"/>
          <a:lstStyle>
            <a:lvl1pPr>
              <a:defRPr sz="5500"/>
            </a:lvl1pPr>
          </a:lstStyle>
          <a:p>
            <a:pPr lvl="0"/>
            <a:r>
              <a:rPr lang="en-US" altLang="en-US" noProof="0" smtClean="0"/>
              <a:t>Click to edit title style</a:t>
            </a:r>
          </a:p>
        </p:txBody>
      </p:sp>
      <p:sp>
        <p:nvSpPr>
          <p:cNvPr id="40968" name="Text Placeholder 2"/>
          <p:cNvSpPr>
            <a:spLocks noGrp="1"/>
          </p:cNvSpPr>
          <p:nvPr>
            <p:ph type="subTitle" idx="1"/>
          </p:nvPr>
        </p:nvSpPr>
        <p:spPr>
          <a:xfrm>
            <a:off x="265113" y="4721225"/>
            <a:ext cx="8510587" cy="1871663"/>
          </a:xfrm>
        </p:spPr>
        <p:txBody>
          <a:bodyPr anchor="b"/>
          <a:lstStyle>
            <a:lvl1pPr marL="0" indent="0">
              <a:buFontTx/>
              <a:buNone/>
              <a:defRPr>
                <a:solidFill>
                  <a:srgbClr val="3A3B44"/>
                </a:solidFill>
              </a:defRPr>
            </a:lvl1pPr>
          </a:lstStyle>
          <a:p>
            <a:pPr lvl="0"/>
            <a:r>
              <a:rPr lang="en-US" altLang="en-US" noProof="0" dirty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3A3B44"/>
                </a:solidFill>
              </a:defRPr>
            </a:lvl1pPr>
            <a:lvl2pPr>
              <a:defRPr>
                <a:solidFill>
                  <a:srgbClr val="3A3B44"/>
                </a:solidFill>
              </a:defRPr>
            </a:lvl2pPr>
            <a:lvl3pPr>
              <a:defRPr>
                <a:solidFill>
                  <a:srgbClr val="3A3B44"/>
                </a:solidFill>
              </a:defRPr>
            </a:lvl3pPr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474C90-8428-466A-800D-6A309A919829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7720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3A3B4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637D0FC-97B8-452A-8369-EA057A6A7621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14593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601788"/>
            <a:ext cx="4243388" cy="453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>
                <a:solidFill>
                  <a:srgbClr val="3A3B44"/>
                </a:solidFill>
                <a:latin typeface="+mn-lt"/>
              </a:defRPr>
            </a:lvl4pPr>
            <a:lvl5pPr>
              <a:defRPr sz="1800">
                <a:solidFill>
                  <a:srgbClr val="3A3B44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601788"/>
            <a:ext cx="4243387" cy="453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>
                <a:solidFill>
                  <a:srgbClr val="3A3B44"/>
                </a:solidFill>
                <a:latin typeface="+mn-lt"/>
              </a:defRPr>
            </a:lvl4pPr>
            <a:lvl5pPr>
              <a:defRPr sz="1800">
                <a:solidFill>
                  <a:srgbClr val="3A3B44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DE1B09C-F10A-40DF-9917-CCBC490C704D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3791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>
                <a:solidFill>
                  <a:srgbClr val="3A3B44"/>
                </a:solidFill>
                <a:latin typeface="+mn-lt"/>
              </a:defRPr>
            </a:lvl4pPr>
            <a:lvl5pPr>
              <a:defRPr sz="1600">
                <a:solidFill>
                  <a:srgbClr val="3A3B44"/>
                </a:solidFill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>
                <a:solidFill>
                  <a:srgbClr val="3A3B44"/>
                </a:solidFill>
                <a:latin typeface="+mn-lt"/>
              </a:defRPr>
            </a:lvl4pPr>
            <a:lvl5pPr>
              <a:defRPr sz="1600">
                <a:solidFill>
                  <a:srgbClr val="3A3B44"/>
                </a:solidFill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8CD4A2-06CA-4C03-8BC1-CE3476B09851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84111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86A7705-9C19-4F1B-9294-3AFC53431B7A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7576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44BEEF-549B-4682-9267-D7AC94C4DF57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2091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solidFill>
                  <a:srgbClr val="3A3B44"/>
                </a:solidFill>
                <a:latin typeface="+mn-lt"/>
              </a:defRPr>
            </a:lvl3pPr>
            <a:lvl4pPr>
              <a:defRPr sz="2000">
                <a:solidFill>
                  <a:srgbClr val="3A3B44"/>
                </a:solidFill>
                <a:latin typeface="+mn-lt"/>
              </a:defRPr>
            </a:lvl4pPr>
            <a:lvl5pPr>
              <a:defRPr sz="2000">
                <a:solidFill>
                  <a:srgbClr val="3A3B44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F356692-9030-41EB-B73E-F749AFEAB19D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1078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FD1C95-2047-411D-A839-BDC7CBCB3793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77247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0654E2-5219-4C63-9CCC-941F49D7A2A2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7427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9913" y="0"/>
            <a:ext cx="2224087" cy="61372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0"/>
            <a:ext cx="6519863" cy="6137275"/>
          </a:xfrm>
        </p:spPr>
        <p:txBody>
          <a:bodyPr vert="eaVert"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C32656-72F7-4227-971C-BBBDAF2D5D1D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19255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6" descr="PP_T_GW copy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 descr="MKS_18mm_R_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5681663"/>
            <a:ext cx="685800" cy="81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67" name="Text Placeholder 2"/>
          <p:cNvSpPr>
            <a:spLocks noGrp="1"/>
          </p:cNvSpPr>
          <p:nvPr>
            <p:ph type="subTitle" idx="1"/>
          </p:nvPr>
        </p:nvSpPr>
        <p:spPr>
          <a:xfrm>
            <a:off x="265113" y="4721225"/>
            <a:ext cx="8510587" cy="1871663"/>
          </a:xfrm>
        </p:spPr>
        <p:txBody>
          <a:bodyPr anchor="b"/>
          <a:lstStyle>
            <a:lvl1pPr marL="0" indent="0"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36868" name="Title Placeholder 1"/>
          <p:cNvSpPr>
            <a:spLocks noGrp="1"/>
          </p:cNvSpPr>
          <p:nvPr>
            <p:ph type="ctrTitle"/>
          </p:nvPr>
        </p:nvSpPr>
        <p:spPr>
          <a:xfrm>
            <a:off x="247650" y="2586038"/>
            <a:ext cx="8532813" cy="3109912"/>
          </a:xfrm>
        </p:spPr>
        <p:txBody>
          <a:bodyPr anchor="t"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3A3B44"/>
                </a:solidFill>
              </a:defRPr>
            </a:lvl1pPr>
            <a:lvl2pPr>
              <a:defRPr>
                <a:solidFill>
                  <a:srgbClr val="3A3B44"/>
                </a:solidFill>
              </a:defRPr>
            </a:lvl2pPr>
            <a:lvl3pPr>
              <a:defRPr>
                <a:solidFill>
                  <a:srgbClr val="3A3B44"/>
                </a:solidFill>
              </a:defRPr>
            </a:lvl3pPr>
            <a:lvl4pPr>
              <a:defRPr>
                <a:solidFill>
                  <a:srgbClr val="3A3B44"/>
                </a:solidFill>
              </a:defRPr>
            </a:lvl4pPr>
            <a:lvl5pPr>
              <a:defRPr>
                <a:solidFill>
                  <a:srgbClr val="3A3B44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AEC52B-B89B-484B-9F5E-875848921725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49391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3A3B44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39950B-6308-478C-A8B0-B92CC2C0404F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15477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601788"/>
            <a:ext cx="4243388" cy="4535487"/>
          </a:xfrm>
        </p:spPr>
        <p:txBody>
          <a:bodyPr/>
          <a:lstStyle>
            <a:lvl1pPr>
              <a:defRPr sz="2800"/>
            </a:lvl1pPr>
            <a:lvl2pPr>
              <a:defRPr sz="2400">
                <a:solidFill>
                  <a:srgbClr val="3A3B44"/>
                </a:solidFill>
                <a:latin typeface="+mn-lt"/>
              </a:defRPr>
            </a:lvl2pPr>
            <a:lvl3pPr>
              <a:defRPr sz="2000">
                <a:solidFill>
                  <a:srgbClr val="3A3B44"/>
                </a:solidFill>
                <a:latin typeface="+mn-lt"/>
              </a:defRPr>
            </a:lvl3pPr>
            <a:lvl4pPr>
              <a:defRPr sz="1800">
                <a:solidFill>
                  <a:srgbClr val="3A3B44"/>
                </a:solidFill>
                <a:latin typeface="+mn-lt"/>
              </a:defRPr>
            </a:lvl4pPr>
            <a:lvl5pPr>
              <a:defRPr sz="1800">
                <a:solidFill>
                  <a:srgbClr val="3A3B44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601788"/>
            <a:ext cx="4243387" cy="4535487"/>
          </a:xfrm>
        </p:spPr>
        <p:txBody>
          <a:bodyPr/>
          <a:lstStyle>
            <a:lvl1pPr>
              <a:defRPr sz="2800"/>
            </a:lvl1pPr>
            <a:lvl2pPr>
              <a:defRPr sz="2400">
                <a:solidFill>
                  <a:srgbClr val="3A3B44"/>
                </a:solidFill>
                <a:latin typeface="+mn-lt"/>
              </a:defRPr>
            </a:lvl2pPr>
            <a:lvl3pPr>
              <a:defRPr sz="2000">
                <a:solidFill>
                  <a:srgbClr val="3A3B44"/>
                </a:solidFill>
                <a:latin typeface="+mn-lt"/>
              </a:defRPr>
            </a:lvl3pPr>
            <a:lvl4pPr>
              <a:defRPr sz="1800">
                <a:solidFill>
                  <a:srgbClr val="3A3B44"/>
                </a:solidFill>
                <a:latin typeface="+mn-lt"/>
              </a:defRPr>
            </a:lvl4pPr>
            <a:lvl5pPr>
              <a:defRPr sz="1800">
                <a:solidFill>
                  <a:srgbClr val="3A3B44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D1D5F8-50D5-456A-BCEF-172C8FA41310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10922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solidFill>
                  <a:srgbClr val="3A3B44"/>
                </a:solidFill>
                <a:latin typeface="+mn-lt"/>
              </a:defRPr>
            </a:lvl3pPr>
            <a:lvl4pPr>
              <a:defRPr sz="1600">
                <a:solidFill>
                  <a:srgbClr val="3A3B44"/>
                </a:solidFill>
                <a:latin typeface="+mn-lt"/>
              </a:defRPr>
            </a:lvl4pPr>
            <a:lvl5pPr>
              <a:defRPr sz="1600">
                <a:solidFill>
                  <a:srgbClr val="3A3B44"/>
                </a:solidFill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>
                <a:solidFill>
                  <a:srgbClr val="3A3B44"/>
                </a:solidFill>
                <a:latin typeface="+mn-lt"/>
              </a:defRPr>
            </a:lvl4pPr>
            <a:lvl5pPr>
              <a:defRPr sz="1600">
                <a:solidFill>
                  <a:srgbClr val="3A3B44"/>
                </a:solidFill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B8612-E1E4-47F1-8176-1D985F5765E2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712244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ABA88-D3C8-4AE9-9A3B-7498CD89820E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259134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37A63C-0920-4C2F-A035-3AB89BF58338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593131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>
                <a:solidFill>
                  <a:srgbClr val="3A3B44"/>
                </a:solidFill>
              </a:defRPr>
            </a:lvl4pPr>
            <a:lvl5pPr>
              <a:defRPr sz="2000">
                <a:solidFill>
                  <a:srgbClr val="3A3B44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10D28C-0FDE-491E-A451-49F588FA9D4C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3214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6063CD-5674-41CB-A710-E73885AA00E6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843342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solidFill>
                  <a:srgbClr val="3A3B44"/>
                </a:solidFill>
                <a:latin typeface="+mn-lt"/>
              </a:defRPr>
            </a:lvl3pPr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080E5-AA44-4764-A85A-C4B1ED825D54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774605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9913" y="0"/>
            <a:ext cx="2224087" cy="61372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0"/>
            <a:ext cx="6519863" cy="6137275"/>
          </a:xfrm>
        </p:spPr>
        <p:txBody>
          <a:bodyPr vert="eaVert"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04D80E-B590-4C46-9009-653A16AAFE15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112112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47650" y="0"/>
            <a:ext cx="8896350" cy="6137275"/>
          </a:xfrm>
        </p:spPr>
        <p:txBody>
          <a:bodyPr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23950" y="6296025"/>
            <a:ext cx="1252538" cy="277813"/>
          </a:xfrm>
        </p:spPr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76488" y="6296025"/>
            <a:ext cx="5341937" cy="27781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47650" y="6296025"/>
            <a:ext cx="876300" cy="277813"/>
          </a:xfrm>
        </p:spPr>
        <p:txBody>
          <a:bodyPr/>
          <a:lstStyle>
            <a:lvl1pPr>
              <a:defRPr/>
            </a:lvl1pPr>
          </a:lstStyle>
          <a:p>
            <a:fld id="{5E3575DB-EC4C-4A8E-B435-8A7CFAB03509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559712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0"/>
            <a:ext cx="889635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6700" y="1601788"/>
            <a:ext cx="4243388" cy="4535487"/>
          </a:xfrm>
        </p:spPr>
        <p:txBody>
          <a:bodyPr/>
          <a:lstStyle>
            <a:lvl3pPr>
              <a:defRPr>
                <a:solidFill>
                  <a:srgbClr val="3A3B44"/>
                </a:solidFill>
              </a:defRPr>
            </a:lvl3pPr>
            <a:lvl4pPr>
              <a:defRPr>
                <a:solidFill>
                  <a:srgbClr val="3A3B44"/>
                </a:solidFill>
              </a:defRPr>
            </a:lvl4pPr>
            <a:lvl5pPr>
              <a:defRPr>
                <a:solidFill>
                  <a:srgbClr val="3A3B44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601788"/>
            <a:ext cx="4243387" cy="4535487"/>
          </a:xfrm>
        </p:spPr>
        <p:txBody>
          <a:bodyPr/>
          <a:lstStyle>
            <a:lvl4pPr>
              <a:defRPr>
                <a:solidFill>
                  <a:srgbClr val="3A3B44"/>
                </a:solidFill>
              </a:defRPr>
            </a:lvl4pPr>
            <a:lvl5pPr>
              <a:defRPr>
                <a:solidFill>
                  <a:srgbClr val="3A3B44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3950" y="6296025"/>
            <a:ext cx="1252538" cy="277813"/>
          </a:xfrm>
        </p:spPr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76488" y="6296025"/>
            <a:ext cx="5341937" cy="27781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47650" y="6296025"/>
            <a:ext cx="876300" cy="277813"/>
          </a:xfrm>
        </p:spPr>
        <p:txBody>
          <a:bodyPr/>
          <a:lstStyle>
            <a:lvl1pPr>
              <a:defRPr/>
            </a:lvl1pPr>
          </a:lstStyle>
          <a:p>
            <a:fld id="{02001A42-130E-4D42-A7F9-144A828E39A9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29935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0"/>
            <a:ext cx="889635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6700" y="1601788"/>
            <a:ext cx="8639175" cy="2190750"/>
          </a:xfrm>
        </p:spPr>
        <p:txBody>
          <a:bodyPr/>
          <a:lstStyle>
            <a:lvl4pPr>
              <a:defRPr>
                <a:solidFill>
                  <a:srgbClr val="3A3B44"/>
                </a:solidFill>
              </a:defRPr>
            </a:lvl4pPr>
            <a:lvl5pPr>
              <a:defRPr>
                <a:solidFill>
                  <a:srgbClr val="3A3B44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700" y="3944938"/>
            <a:ext cx="8639175" cy="2192337"/>
          </a:xfrm>
        </p:spPr>
        <p:txBody>
          <a:bodyPr/>
          <a:lstStyle>
            <a:lvl4pPr>
              <a:defRPr>
                <a:solidFill>
                  <a:srgbClr val="3A3B44"/>
                </a:solidFill>
              </a:defRPr>
            </a:lvl4pPr>
            <a:lvl5pPr>
              <a:defRPr>
                <a:solidFill>
                  <a:srgbClr val="3A3B44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3950" y="6296025"/>
            <a:ext cx="1252538" cy="277813"/>
          </a:xfrm>
        </p:spPr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76488" y="6296025"/>
            <a:ext cx="5341937" cy="27781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47650" y="6296025"/>
            <a:ext cx="876300" cy="277813"/>
          </a:xfrm>
        </p:spPr>
        <p:txBody>
          <a:bodyPr/>
          <a:lstStyle>
            <a:lvl1pPr>
              <a:defRPr/>
            </a:lvl1pPr>
          </a:lstStyle>
          <a:p>
            <a:fld id="{F82C1109-8014-4922-AC1F-58F66D990895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899450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64" name="Picture 12" descr="MKS_18mm_R_G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5681663"/>
            <a:ext cx="685800" cy="81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162" name="Text Placeholder 2"/>
          <p:cNvSpPr>
            <a:spLocks noGrp="1"/>
          </p:cNvSpPr>
          <p:nvPr>
            <p:ph type="subTitle" idx="1"/>
          </p:nvPr>
        </p:nvSpPr>
        <p:spPr>
          <a:xfrm>
            <a:off x="265113" y="4721225"/>
            <a:ext cx="8510587" cy="1871663"/>
          </a:xfrm>
        </p:spPr>
        <p:txBody>
          <a:bodyPr anchor="b"/>
          <a:lstStyle>
            <a:lvl1pPr marL="0" indent="0">
              <a:buFontTx/>
              <a:buNone/>
              <a:defRPr>
                <a:solidFill>
                  <a:srgbClr val="3A3B44"/>
                </a:solidFill>
              </a:defRPr>
            </a:lvl1pPr>
          </a:lstStyle>
          <a:p>
            <a:pPr lvl="0"/>
            <a:r>
              <a:rPr lang="en-US" altLang="en-US" noProof="0" dirty="0" smtClean="0"/>
              <a:t>Click to edit Master subtitle style</a:t>
            </a:r>
          </a:p>
        </p:txBody>
      </p:sp>
      <p:sp>
        <p:nvSpPr>
          <p:cNvPr id="49163" name="Title Placeholder 1"/>
          <p:cNvSpPr>
            <a:spLocks noGrp="1"/>
          </p:cNvSpPr>
          <p:nvPr>
            <p:ph type="ctrTitle"/>
          </p:nvPr>
        </p:nvSpPr>
        <p:spPr>
          <a:xfrm>
            <a:off x="247650" y="2586038"/>
            <a:ext cx="8532813" cy="3109912"/>
          </a:xfrm>
        </p:spPr>
        <p:txBody>
          <a:bodyPr anchor="t"/>
          <a:lstStyle>
            <a:lvl1pPr>
              <a:defRPr sz="3600"/>
            </a:lvl1pPr>
          </a:lstStyle>
          <a:p>
            <a:pPr lvl="0"/>
            <a:r>
              <a:rPr lang="en-US" altLang="en-US" noProof="0" smtClean="0"/>
              <a:t>Click to edit title style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4D31A8C-BCA8-4226-B014-335A7FC5E9DC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662614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E54D9AC-5741-4607-969B-A850970255F3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709230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6700" y="1601788"/>
            <a:ext cx="4243388" cy="453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>
                <a:solidFill>
                  <a:srgbClr val="3A3B44"/>
                </a:solidFill>
                <a:latin typeface="+mn-lt"/>
              </a:defRPr>
            </a:lvl4pPr>
            <a:lvl5pPr>
              <a:defRPr sz="1800">
                <a:solidFill>
                  <a:srgbClr val="3A3B44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601788"/>
            <a:ext cx="4243387" cy="45354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>
                <a:solidFill>
                  <a:srgbClr val="3A3B44"/>
                </a:solidFill>
                <a:latin typeface="+mn-lt"/>
              </a:defRPr>
            </a:lvl4pPr>
            <a:lvl5pPr>
              <a:defRPr sz="1800">
                <a:solidFill>
                  <a:srgbClr val="3A3B44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2360B8-90DC-46FF-9228-A3077FCA7FD3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042680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>
                <a:solidFill>
                  <a:srgbClr val="3A3B44"/>
                </a:solidFill>
                <a:latin typeface="+mn-lt"/>
              </a:defRPr>
            </a:lvl4pPr>
            <a:lvl5pPr>
              <a:defRPr sz="1600">
                <a:solidFill>
                  <a:srgbClr val="3A3B44"/>
                </a:solidFill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>
                <a:solidFill>
                  <a:srgbClr val="3A3B44"/>
                </a:solidFill>
                <a:latin typeface="+mn-lt"/>
              </a:defRPr>
            </a:lvl4pPr>
            <a:lvl5pPr>
              <a:defRPr sz="1600">
                <a:solidFill>
                  <a:srgbClr val="3A3B44"/>
                </a:solidFill>
                <a:latin typeface="+mn-lt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D888C94-556F-4F8C-BF82-5C4D0E110862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641813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D0DC62-509F-4747-A2E2-8C547C1FE748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656661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2C468E6-6B9A-40F6-AF97-587CDD36C9D6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229292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>
                <a:solidFill>
                  <a:srgbClr val="3A3B44"/>
                </a:solidFill>
                <a:latin typeface="+mn-lt"/>
              </a:defRPr>
            </a:lvl4pPr>
            <a:lvl5pPr>
              <a:defRPr sz="2000">
                <a:solidFill>
                  <a:srgbClr val="3A3B44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0FAA9F-84F9-4734-A3D0-D5CBE8C48187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824967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rgbClr val="3A3B4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81C0E01-8FC1-41A2-8FCE-6FD6DCBA730C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0133540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C56747-1A26-43EA-980D-BC0456BBF3C5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12882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9913" y="0"/>
            <a:ext cx="2224087" cy="61372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0"/>
            <a:ext cx="6519863" cy="6137275"/>
          </a:xfrm>
        </p:spPr>
        <p:txBody>
          <a:bodyPr vert="eaVert"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D2095-4DF5-4149-8E8B-7F4795E1C106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532088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0"/>
            <a:ext cx="889635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6700" y="1601788"/>
            <a:ext cx="4243388" cy="4535487"/>
          </a:xfrm>
        </p:spPr>
        <p:txBody>
          <a:bodyPr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601788"/>
            <a:ext cx="4243387" cy="2190750"/>
          </a:xfrm>
        </p:spPr>
        <p:txBody>
          <a:bodyPr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44938"/>
            <a:ext cx="4243387" cy="2192337"/>
          </a:xfrm>
        </p:spPr>
        <p:txBody>
          <a:bodyPr/>
          <a:lstStyle>
            <a:lvl4pPr>
              <a:defRPr>
                <a:solidFill>
                  <a:srgbClr val="3A3B44"/>
                </a:solidFill>
                <a:latin typeface="+mn-lt"/>
              </a:defRPr>
            </a:lvl4pPr>
            <a:lvl5pPr>
              <a:defRPr>
                <a:solidFill>
                  <a:srgbClr val="3A3B44"/>
                </a:solidFill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47650" y="6296025"/>
            <a:ext cx="876300" cy="277813"/>
          </a:xfrm>
        </p:spPr>
        <p:txBody>
          <a:bodyPr/>
          <a:lstStyle>
            <a:lvl1pPr>
              <a:defRPr/>
            </a:lvl1pPr>
          </a:lstStyle>
          <a:p>
            <a:fld id="{B3555013-6D94-4A3E-977E-B157C2C8B032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>
          <a:xfrm>
            <a:off x="1123950" y="6296025"/>
            <a:ext cx="1252538" cy="277813"/>
          </a:xfrm>
        </p:spPr>
        <p:txBody>
          <a:bodyPr/>
          <a:lstStyle>
            <a:lvl1pPr>
              <a:defRPr/>
            </a:lvl1pPr>
          </a:lstStyle>
          <a:p>
            <a:endParaRPr lang="en-GB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2376488" y="6296025"/>
            <a:ext cx="5341937" cy="27781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6536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48" name="Picture 12" descr="MKS_18mm_R_G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5681663"/>
            <a:ext cx="685800" cy="81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943" name="Title Placeholder 1"/>
          <p:cNvSpPr>
            <a:spLocks noGrp="1"/>
          </p:cNvSpPr>
          <p:nvPr>
            <p:ph type="title"/>
          </p:nvPr>
        </p:nvSpPr>
        <p:spPr bwMode="auto">
          <a:xfrm>
            <a:off x="247650" y="0"/>
            <a:ext cx="88963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399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6700" y="1601788"/>
            <a:ext cx="8639175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7650" y="6296025"/>
            <a:ext cx="876300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 b="1">
                <a:solidFill>
                  <a:srgbClr val="9E9E9F"/>
                </a:solidFill>
                <a:latin typeface="+mn-lt"/>
                <a:cs typeface="Tahoma" pitchFamily="34" charset="0"/>
              </a:defRPr>
            </a:lvl1pPr>
          </a:lstStyle>
          <a:p>
            <a:fld id="{21FF081C-2ED8-47BC-851D-A10F299D6534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3950" y="6296025"/>
            <a:ext cx="1252538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>
                <a:solidFill>
                  <a:srgbClr val="9E9E9F"/>
                </a:solidFill>
                <a:latin typeface="+mn-lt"/>
                <a:cs typeface="Tahoma" pitchFamily="34" charset="0"/>
              </a:defRPr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76488" y="6296025"/>
            <a:ext cx="5341937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>
                <a:solidFill>
                  <a:srgbClr val="9E9E9F"/>
                </a:solidFill>
                <a:latin typeface="+mn-lt"/>
                <a:cs typeface="Tahoma" pitchFamily="34" charset="0"/>
              </a:defRPr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3A3B44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3A3B44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3A3B44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7" name="Picture 7" descr="MKS_18mm_R_G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5681663"/>
            <a:ext cx="685800" cy="81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842" name="Title Placeholder 1"/>
          <p:cNvSpPr>
            <a:spLocks noGrp="1"/>
          </p:cNvSpPr>
          <p:nvPr>
            <p:ph type="title"/>
          </p:nvPr>
        </p:nvSpPr>
        <p:spPr bwMode="auto">
          <a:xfrm>
            <a:off x="247650" y="0"/>
            <a:ext cx="88963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358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6700" y="1601788"/>
            <a:ext cx="8639175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3950" y="6296025"/>
            <a:ext cx="1252538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>
                <a:solidFill>
                  <a:srgbClr val="9E9E9F"/>
                </a:solidFill>
                <a:latin typeface="+mn-lt"/>
                <a:cs typeface="+mn-cs"/>
              </a:defRPr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76488" y="6296025"/>
            <a:ext cx="5341937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>
                <a:solidFill>
                  <a:srgbClr val="9E9E9F"/>
                </a:solidFill>
                <a:latin typeface="+mn-lt"/>
                <a:cs typeface="+mn-cs"/>
              </a:defRPr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7650" y="6296025"/>
            <a:ext cx="876300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 b="1">
                <a:solidFill>
                  <a:srgbClr val="9E9E9F"/>
                </a:solidFill>
                <a:latin typeface="+mn-lt"/>
                <a:cs typeface="+mn-cs"/>
              </a:defRPr>
            </a:lvl1pPr>
          </a:lstStyle>
          <a:p>
            <a:fld id="{2A62BDFF-EB6E-4172-8772-99451C3EF586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90" r:id="rId12"/>
    <p:sldLayoutId id="2147483691" r:id="rId13"/>
    <p:sldLayoutId id="2147483693" r:id="rId14"/>
  </p:sldLayoutIdLst>
  <p:hf hdr="0"/>
  <p:txStyles>
    <p:titleStyle>
      <a:lvl1pPr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+mj-lt"/>
          <a:ea typeface="+mj-ea"/>
          <a:cs typeface="+mj-cs"/>
        </a:defRPr>
      </a:lvl1pPr>
      <a:lvl2pPr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  <a:cs typeface="Tahoma" pitchFamily="34" charset="0"/>
        </a:defRPr>
      </a:lvl2pPr>
      <a:lvl3pPr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  <a:cs typeface="Tahoma" pitchFamily="34" charset="0"/>
        </a:defRPr>
      </a:lvl3pPr>
      <a:lvl4pPr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  <a:cs typeface="Tahoma" pitchFamily="34" charset="0"/>
        </a:defRPr>
      </a:lvl4pPr>
      <a:lvl5pPr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  <a:cs typeface="Tahoma" pitchFamily="34" charset="0"/>
        </a:defRPr>
      </a:lvl5pPr>
      <a:lvl6pPr marL="457200"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  <a:cs typeface="Tahoma" pitchFamily="34" charset="0"/>
        </a:defRPr>
      </a:lvl6pPr>
      <a:lvl7pPr marL="914400"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  <a:cs typeface="Tahoma" pitchFamily="34" charset="0"/>
        </a:defRPr>
      </a:lvl7pPr>
      <a:lvl8pPr marL="1371600"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  <a:cs typeface="Tahoma" pitchFamily="34" charset="0"/>
        </a:defRPr>
      </a:lvl8pPr>
      <a:lvl9pPr marL="1828800" algn="l" defTabSz="457200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  <a:cs typeface="Tahoma" pitchFamily="34" charset="0"/>
        </a:defRPr>
      </a:lvl9pPr>
    </p:titleStyle>
    <p:bodyStyle>
      <a:lvl1pPr marL="215900" indent="-215900" algn="l" defTabSz="457200" rtl="0" fontAlgn="base">
        <a:spcBef>
          <a:spcPts val="900"/>
        </a:spcBef>
        <a:spcAft>
          <a:spcPct val="0"/>
        </a:spcAft>
        <a:buFont typeface="Arial" pitchFamily="34" charset="0"/>
        <a:buChar char="•"/>
        <a:defRPr sz="2400">
          <a:solidFill>
            <a:srgbClr val="3A3B44"/>
          </a:solidFill>
          <a:latin typeface="+mn-lt"/>
          <a:ea typeface="+mn-ea"/>
          <a:cs typeface="+mn-cs"/>
        </a:defRPr>
      </a:lvl1pPr>
      <a:lvl2pPr marL="466725" indent="-250825" algn="l" defTabSz="457200" rtl="0" fontAlgn="base">
        <a:spcBef>
          <a:spcPts val="300"/>
        </a:spcBef>
        <a:spcAft>
          <a:spcPct val="0"/>
        </a:spcAft>
        <a:buFont typeface="Lucida Grande"/>
        <a:buChar char="–"/>
        <a:defRPr sz="2400">
          <a:solidFill>
            <a:srgbClr val="3A3B44"/>
          </a:solidFill>
          <a:latin typeface="+mn-lt"/>
          <a:cs typeface="+mn-cs"/>
        </a:defRPr>
      </a:lvl2pPr>
      <a:lvl3pPr marL="719138" indent="-250825" algn="l" defTabSz="457200" rtl="0" fontAlgn="base">
        <a:spcBef>
          <a:spcPts val="300"/>
        </a:spcBef>
        <a:spcAft>
          <a:spcPct val="0"/>
        </a:spcAft>
        <a:buFont typeface="Lucida Grande"/>
        <a:buChar char="–"/>
        <a:defRPr sz="2400">
          <a:solidFill>
            <a:srgbClr val="3A3B44"/>
          </a:solidFill>
          <a:latin typeface="+mn-lt"/>
          <a:cs typeface="+mn-cs"/>
        </a:defRPr>
      </a:lvl3pPr>
      <a:lvl4pPr marL="719138" indent="-250825" algn="l" defTabSz="457200" rtl="0" fontAlgn="base">
        <a:spcBef>
          <a:spcPts val="300"/>
        </a:spcBef>
        <a:spcAft>
          <a:spcPct val="0"/>
        </a:spcAft>
        <a:buFont typeface="Lucida Grande"/>
        <a:buChar char="–"/>
        <a:defRPr sz="2400">
          <a:solidFill>
            <a:schemeClr val="tx1"/>
          </a:solidFill>
          <a:latin typeface="+mn-lt"/>
          <a:cs typeface="+mn-cs"/>
        </a:defRPr>
      </a:lvl4pPr>
      <a:lvl5pPr marL="719138" indent="-250825" algn="l" defTabSz="457200" rtl="0" fontAlgn="base">
        <a:spcBef>
          <a:spcPts val="300"/>
        </a:spcBef>
        <a:spcAft>
          <a:spcPct val="0"/>
        </a:spcAft>
        <a:buFont typeface="Lucida Grande"/>
        <a:buChar char="–"/>
        <a:defRPr sz="2400">
          <a:solidFill>
            <a:schemeClr val="tx1"/>
          </a:solidFill>
          <a:latin typeface="+mn-lt"/>
          <a:cs typeface="+mn-cs"/>
        </a:defRPr>
      </a:lvl5pPr>
      <a:lvl6pPr marL="1176338" indent="-250825" algn="l" defTabSz="457200" rtl="0" fontAlgn="base">
        <a:spcBef>
          <a:spcPts val="300"/>
        </a:spcBef>
        <a:spcAft>
          <a:spcPct val="0"/>
        </a:spcAft>
        <a:buFont typeface="Lucida Grande"/>
        <a:buChar char="–"/>
        <a:defRPr sz="2400">
          <a:solidFill>
            <a:schemeClr val="tx1"/>
          </a:solidFill>
          <a:latin typeface="+mn-lt"/>
          <a:cs typeface="+mn-cs"/>
        </a:defRPr>
      </a:lvl6pPr>
      <a:lvl7pPr marL="1633538" indent="-250825" algn="l" defTabSz="457200" rtl="0" fontAlgn="base">
        <a:spcBef>
          <a:spcPts val="300"/>
        </a:spcBef>
        <a:spcAft>
          <a:spcPct val="0"/>
        </a:spcAft>
        <a:buFont typeface="Lucida Grande"/>
        <a:buChar char="–"/>
        <a:defRPr sz="2400">
          <a:solidFill>
            <a:schemeClr val="tx1"/>
          </a:solidFill>
          <a:latin typeface="+mn-lt"/>
          <a:cs typeface="+mn-cs"/>
        </a:defRPr>
      </a:lvl7pPr>
      <a:lvl8pPr marL="2090738" indent="-250825" algn="l" defTabSz="457200" rtl="0" fontAlgn="base">
        <a:spcBef>
          <a:spcPts val="300"/>
        </a:spcBef>
        <a:spcAft>
          <a:spcPct val="0"/>
        </a:spcAft>
        <a:buFont typeface="Lucida Grande"/>
        <a:buChar char="–"/>
        <a:defRPr sz="2400">
          <a:solidFill>
            <a:schemeClr val="tx1"/>
          </a:solidFill>
          <a:latin typeface="+mn-lt"/>
          <a:cs typeface="+mn-cs"/>
        </a:defRPr>
      </a:lvl8pPr>
      <a:lvl9pPr marL="2547938" indent="-250825" algn="l" defTabSz="457200" rtl="0" fontAlgn="base">
        <a:spcBef>
          <a:spcPts val="300"/>
        </a:spcBef>
        <a:spcAft>
          <a:spcPct val="0"/>
        </a:spcAft>
        <a:buFont typeface="Lucida Grande"/>
        <a:buChar char="–"/>
        <a:defRPr sz="2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98" name="Picture 14" descr="MKS_18mm_R_G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5681663"/>
            <a:ext cx="685800" cy="81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91" name="Title Placeholder 1"/>
          <p:cNvSpPr>
            <a:spLocks noGrp="1"/>
          </p:cNvSpPr>
          <p:nvPr>
            <p:ph type="title"/>
          </p:nvPr>
        </p:nvSpPr>
        <p:spPr bwMode="auto">
          <a:xfrm>
            <a:off x="247650" y="0"/>
            <a:ext cx="88963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419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6700" y="1601788"/>
            <a:ext cx="8639175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7650" y="6296025"/>
            <a:ext cx="876300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 b="1">
                <a:solidFill>
                  <a:srgbClr val="9E9E9F"/>
                </a:solidFill>
                <a:latin typeface="+mn-lt"/>
                <a:cs typeface="Tahoma" pitchFamily="34" charset="0"/>
              </a:defRPr>
            </a:lvl1pPr>
          </a:lstStyle>
          <a:p>
            <a:fld id="{F3A30AA8-D9A0-408F-B081-76967486CD42}" type="slidenum">
              <a:rPr lang="en-GB" altLang="en-US"/>
              <a:pPr/>
              <a:t>‹#›</a:t>
            </a:fld>
            <a:endParaRPr lang="en-GB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3950" y="6296025"/>
            <a:ext cx="1252538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>
                <a:solidFill>
                  <a:srgbClr val="9E9E9F"/>
                </a:solidFill>
                <a:latin typeface="+mn-lt"/>
                <a:cs typeface="Tahoma" pitchFamily="34" charset="0"/>
              </a:defRPr>
            </a:lvl1pPr>
          </a:lstStyle>
          <a:p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76488" y="6296025"/>
            <a:ext cx="5341937" cy="2778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sz="1200">
                <a:solidFill>
                  <a:srgbClr val="9E9E9F"/>
                </a:solidFill>
                <a:latin typeface="+mn-lt"/>
                <a:cs typeface="Tahoma" pitchFamily="34" charset="0"/>
              </a:defRPr>
            </a:lvl1pPr>
          </a:lstStyle>
          <a:p>
            <a:r>
              <a:rPr lang="en-US" altLang="en-US" dirty="0"/>
              <a:t>Markel Confidential</a:t>
            </a:r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2" r:id="rId12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B71234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3A3B44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3A3B44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rgbClr val="3A3B44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 smtClean="0"/>
              <a:t>Markel</a:t>
            </a:r>
            <a:br>
              <a:rPr lang="en-US" altLang="en-US" dirty="0" smtClean="0"/>
            </a:br>
            <a:r>
              <a:rPr lang="en-US" altLang="en-US" sz="4000" dirty="0" smtClean="0"/>
              <a:t>Rate Presentation</a:t>
            </a:r>
            <a:endParaRPr lang="en-US" altLang="en-US" sz="4000" dirty="0"/>
          </a:p>
        </p:txBody>
      </p:sp>
      <p:sp>
        <p:nvSpPr>
          <p:cNvPr id="18437" name="Rectang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Training Class Presentation w/</a:t>
            </a:r>
          </a:p>
          <a:p>
            <a:r>
              <a:rPr lang="en-US" dirty="0"/>
              <a:t>Julie Dennebaum, </a:t>
            </a:r>
            <a:r>
              <a:rPr lang="en-US" dirty="0" smtClean="0"/>
              <a:t>Underwriting Manager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Rates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 smtClean="0"/>
              <a:t>What we are going to learn about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lvl="0"/>
            <a:r>
              <a:rPr lang="en-US" dirty="0"/>
              <a:t>How is rate </a:t>
            </a:r>
            <a:r>
              <a:rPr lang="en-US" dirty="0" smtClean="0"/>
              <a:t>determined</a:t>
            </a:r>
          </a:p>
          <a:p>
            <a:pPr lvl="0"/>
            <a:r>
              <a:rPr lang="en-US" dirty="0" smtClean="0"/>
              <a:t>Components of a rate</a:t>
            </a:r>
          </a:p>
          <a:p>
            <a:pPr lvl="0"/>
            <a:r>
              <a:rPr lang="en-US" dirty="0" smtClean="0"/>
              <a:t>How does Markel rate occurrence accounts?</a:t>
            </a:r>
          </a:p>
          <a:p>
            <a:pPr lvl="0"/>
            <a:r>
              <a:rPr lang="en-US" dirty="0" smtClean="0"/>
              <a:t>Rate and Premium: The Relationship Between them</a:t>
            </a:r>
          </a:p>
          <a:p>
            <a:pPr lvl="0"/>
            <a:r>
              <a:rPr lang="en-US" dirty="0" smtClean="0"/>
              <a:t>Rate </a:t>
            </a:r>
            <a:r>
              <a:rPr lang="en-US" dirty="0"/>
              <a:t>and free growth</a:t>
            </a:r>
          </a:p>
          <a:p>
            <a:pPr lvl="0"/>
            <a:r>
              <a:rPr lang="en-US" dirty="0"/>
              <a:t>The benefit of getting rate increase on renewals </a:t>
            </a:r>
          </a:p>
          <a:p>
            <a:pPr lvl="0"/>
            <a:r>
              <a:rPr lang="en-US" dirty="0" smtClean="0"/>
              <a:t>Relationship </a:t>
            </a:r>
            <a:r>
              <a:rPr lang="en-US" dirty="0"/>
              <a:t>between rate/auditable premium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AEC52B-B89B-484B-9F5E-875848921725}" type="slidenum">
              <a:rPr lang="en-GB" altLang="en-US" smtClean="0"/>
              <a:pPr/>
              <a:t>2</a:t>
            </a:fld>
            <a:endParaRPr lang="en-GB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1227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Rate Determined?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ISO (Insurance Services Office) is an insurance advisory organization that provides statistical and actuarial information to Insurance businesses</a:t>
            </a:r>
          </a:p>
          <a:p>
            <a:r>
              <a:rPr lang="en-US" sz="2000" dirty="0" smtClean="0"/>
              <a:t>They develop standard forms for all insurer's to use – CG forms</a:t>
            </a:r>
          </a:p>
          <a:p>
            <a:pPr lvl="1"/>
            <a:r>
              <a:rPr lang="en-US" sz="2000" dirty="0" smtClean="0"/>
              <a:t>(as opposed to Markel form – MEGL – stands for Markel Endorsement General Liability)</a:t>
            </a:r>
          </a:p>
          <a:p>
            <a:r>
              <a:rPr lang="en-US" sz="2000" dirty="0" smtClean="0"/>
              <a:t>ISO obtains data about past rates, past losses, past premiums, </a:t>
            </a:r>
            <a:r>
              <a:rPr lang="en-US" sz="2000" dirty="0"/>
              <a:t>accident date, payment date, class code, location, and </a:t>
            </a:r>
            <a:r>
              <a:rPr lang="en-US" sz="2000" dirty="0" smtClean="0"/>
              <a:t>deductibles from Admitted and Non-Admitted markets</a:t>
            </a:r>
          </a:p>
          <a:p>
            <a:r>
              <a:rPr lang="en-US" sz="2000" dirty="0" smtClean="0"/>
              <a:t>Then they use the probability to predict whether future losses will be higher, lower or the same as those losses that occurred previously</a:t>
            </a:r>
          </a:p>
          <a:p>
            <a:r>
              <a:rPr lang="en-US" sz="2000" dirty="0" smtClean="0"/>
              <a:t>Using this they get the base rate</a:t>
            </a:r>
            <a:br>
              <a:rPr lang="en-US" sz="2000" dirty="0" smtClean="0"/>
            </a:b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3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03449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Rate Determined?</a:t>
            </a:r>
            <a:br>
              <a:rPr lang="en-US" dirty="0" smtClean="0"/>
            </a:br>
            <a:r>
              <a:rPr lang="en-US" sz="2500" dirty="0" smtClean="0"/>
              <a:t>Parts of the Rate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07869"/>
            <a:ext cx="8648700" cy="4535487"/>
          </a:xfrm>
        </p:spPr>
        <p:txBody>
          <a:bodyPr/>
          <a:lstStyle/>
          <a:p>
            <a:r>
              <a:rPr lang="en-US" sz="2000" b="1" u="sng" dirty="0" smtClean="0"/>
              <a:t>Base Rate</a:t>
            </a:r>
            <a:r>
              <a:rPr lang="en-US" sz="2000" dirty="0" smtClean="0"/>
              <a:t>: the </a:t>
            </a:r>
            <a:r>
              <a:rPr lang="en-US" sz="2000" b="1" dirty="0"/>
              <a:t>manual rate shown in an insurer's rate manual at basic limits</a:t>
            </a:r>
            <a:r>
              <a:rPr lang="en-US" sz="2000" dirty="0"/>
              <a:t>, before adjustment for such factors as increased limit of </a:t>
            </a:r>
            <a:r>
              <a:rPr lang="en-US" sz="2000" dirty="0" smtClean="0"/>
              <a:t>liability.</a:t>
            </a:r>
          </a:p>
          <a:p>
            <a:r>
              <a:rPr lang="en-US" sz="2000" dirty="0" smtClean="0"/>
              <a:t>Rate is calculated </a:t>
            </a:r>
            <a:r>
              <a:rPr lang="en-US" sz="2000" b="1" dirty="0" smtClean="0"/>
              <a:t>Base </a:t>
            </a:r>
            <a:r>
              <a:rPr lang="en-US" sz="2000" b="1" dirty="0"/>
              <a:t>Rate x Increased Limits factor </a:t>
            </a:r>
            <a:r>
              <a:rPr lang="en-US" sz="2000" b="1" dirty="0" smtClean="0"/>
              <a:t>x </a:t>
            </a:r>
            <a:r>
              <a:rPr lang="en-US" sz="2000" b="1" dirty="0"/>
              <a:t>Loss Cost Multiply </a:t>
            </a:r>
            <a:r>
              <a:rPr lang="en-US" sz="2000" b="1" dirty="0" smtClean="0"/>
              <a:t>– Deductible Credit</a:t>
            </a:r>
          </a:p>
          <a:p>
            <a:r>
              <a:rPr lang="en-US" sz="2000" dirty="0"/>
              <a:t>Increase Limits Factor – </a:t>
            </a:r>
          </a:p>
          <a:p>
            <a:pPr lvl="1"/>
            <a:r>
              <a:rPr lang="en-US" sz="1600" dirty="0"/>
              <a:t>Example: 91342 Carpentry NOC – Buffalo NY</a:t>
            </a:r>
          </a:p>
          <a:p>
            <a:pPr lvl="2"/>
            <a:r>
              <a:rPr lang="en-US" sz="1200" dirty="0"/>
              <a:t>1/2/2 Limits ILF: 2.32 for </a:t>
            </a:r>
            <a:r>
              <a:rPr lang="en-US" sz="1200" dirty="0" err="1"/>
              <a:t>Prem</a:t>
            </a:r>
            <a:r>
              <a:rPr lang="en-US" sz="1200" dirty="0"/>
              <a:t> Ops/1.773 for products</a:t>
            </a:r>
          </a:p>
          <a:p>
            <a:pPr lvl="2"/>
            <a:r>
              <a:rPr lang="en-US" sz="1200" dirty="0"/>
              <a:t>2/4/4 Limits ILF: 3.042 for </a:t>
            </a:r>
            <a:r>
              <a:rPr lang="en-US" sz="1200" dirty="0" err="1"/>
              <a:t>Prem</a:t>
            </a:r>
            <a:r>
              <a:rPr lang="en-US" sz="1200" dirty="0"/>
              <a:t> Ops/2.123 for </a:t>
            </a:r>
            <a:r>
              <a:rPr lang="en-US" sz="1200" dirty="0" smtClean="0"/>
              <a:t>products</a:t>
            </a:r>
            <a:endParaRPr lang="en-US" sz="2000" b="1" dirty="0" smtClean="0"/>
          </a:p>
          <a:p>
            <a:r>
              <a:rPr lang="en-US" sz="2000" dirty="0"/>
              <a:t>Loss Cost Multiplier: Company’s expense provisions - </a:t>
            </a:r>
            <a:r>
              <a:rPr lang="en-US" sz="2000" dirty="0" smtClean="0"/>
              <a:t>1.63</a:t>
            </a:r>
            <a:r>
              <a:rPr lang="en-US" sz="2000" dirty="0"/>
              <a:t>	</a:t>
            </a:r>
          </a:p>
          <a:p>
            <a:pPr lvl="1"/>
            <a:r>
              <a:rPr lang="en-US" sz="1600" dirty="0"/>
              <a:t>It is up to each insurance company to develop its own loss cost multipliers (LCM). This component is based on the company's own operating expenses, taxes and profit provision. Markel uses </a:t>
            </a:r>
            <a:r>
              <a:rPr lang="en-US" sz="1600" dirty="0" smtClean="0"/>
              <a:t>1.63 </a:t>
            </a:r>
            <a:r>
              <a:rPr lang="en-US" sz="1600" dirty="0"/>
              <a:t>as its LCM based on our actuarial findings</a:t>
            </a:r>
          </a:p>
          <a:p>
            <a:pPr lvl="0"/>
            <a:r>
              <a:rPr lang="en-US" sz="2000" dirty="0" smtClean="0"/>
              <a:t>Deductible Credit: </a:t>
            </a:r>
            <a:r>
              <a:rPr lang="en-US" sz="2000" dirty="0"/>
              <a:t>credit to the rate based on the deductible. The higher the deductible the higher the credit.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D1D5F8-50D5-456A-BCEF-172C8FA41310}" type="slidenum">
              <a:rPr lang="en-GB" altLang="en-US" smtClean="0"/>
              <a:pPr/>
              <a:t>4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74033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is Rate Determined?</a:t>
            </a:r>
            <a:br>
              <a:rPr lang="en-US" dirty="0" smtClean="0"/>
            </a:br>
            <a:r>
              <a:rPr lang="en-US" sz="2500" dirty="0" smtClean="0"/>
              <a:t>Parts of the Rate (continued)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307869"/>
            <a:ext cx="8648700" cy="4535487"/>
          </a:xfrm>
        </p:spPr>
        <p:txBody>
          <a:bodyPr/>
          <a:lstStyle/>
          <a:p>
            <a:pPr lvl="0"/>
            <a:r>
              <a:rPr lang="en-US" sz="2000" dirty="0" smtClean="0"/>
              <a:t>A Rates: </a:t>
            </a:r>
            <a:r>
              <a:rPr lang="en-US" sz="2000" dirty="0"/>
              <a:t>Judgment rates that do not have loss experience statistics as a foundation for their development. The underwriter develops these rates on an individual risk basis, according to what the underwriter believes is an equitable rate commensurate with risk involved. ISO provides a rates based on Estimated Loss Potential (ELP). These can be used in Rackely or judgment rates can be entered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D1D5F8-50D5-456A-BCEF-172C8FA41310}" type="slidenum">
              <a:rPr lang="en-GB" altLang="en-US" smtClean="0"/>
              <a:pPr/>
              <a:t>5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5139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of a Rate</a:t>
            </a:r>
            <a:br>
              <a:rPr lang="en-US" dirty="0" smtClean="0"/>
            </a:br>
            <a:r>
              <a:rPr lang="en-US" sz="2500" dirty="0" smtClean="0"/>
              <a:t>Premises Operations vs Products/Completed Ops</a:t>
            </a:r>
            <a:endParaRPr lang="en-US" sz="25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295400"/>
            <a:ext cx="8496300" cy="45354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Premises Operations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Composed of those exposures to loss that fall outside the defined "products-completed operations hazard," it includes liability for injury or damage arising out of the insured's premises or out of the insured's business operations while such operations are in </a:t>
            </a:r>
            <a:r>
              <a:rPr lang="en-US" sz="1600" dirty="0" smtClean="0"/>
              <a:t>progress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 smtClean="0"/>
              <a:t>Construction concerns: trip/fall at site over beam on ground, </a:t>
            </a:r>
            <a:r>
              <a:rPr lang="en-US" sz="1600" dirty="0"/>
              <a:t>s</a:t>
            </a:r>
            <a:r>
              <a:rPr lang="en-US" sz="1600" dirty="0" smtClean="0"/>
              <a:t>truck by hammer that was dropped, sub falling from a ladder, overspray claim hitting cars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 smtClean="0"/>
              <a:t>Products concerns: tripping in a store buying a product, injury in manufacturing a product – scalping from a conveyor belt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 smtClean="0"/>
              <a:t>Products/Completed Ops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It encompasses liability arising out of the insured's products or business operations conducted away from the insured's premises once those operations have been completed or abandoned. </a:t>
            </a:r>
            <a:endParaRPr lang="en-US" sz="16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 smtClean="0"/>
              <a:t>Construction concerns: construction defect, water damage from window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 smtClean="0"/>
              <a:t>Products concerns: product defects from the completed product, latency issues from supplements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800" dirty="0" smtClean="0"/>
          </a:p>
          <a:p>
            <a:pPr lvl="1">
              <a:buFont typeface="Wingdings" panose="05000000000000000000" pitchFamily="2" charset="2"/>
              <a:buChar char="§"/>
            </a:pP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D1D5F8-50D5-456A-BCEF-172C8FA41310}" type="slidenum">
              <a:rPr lang="en-GB" altLang="en-US" smtClean="0"/>
              <a:pPr/>
              <a:t>6</a:t>
            </a:fld>
            <a:endParaRPr lang="en-GB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0087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of a Rate</a:t>
            </a:r>
            <a:br>
              <a:rPr lang="en-US" dirty="0" smtClean="0"/>
            </a:br>
            <a:r>
              <a:rPr lang="en-US" sz="2400" dirty="0" err="1" smtClean="0"/>
              <a:t>Prem</a:t>
            </a:r>
            <a:r>
              <a:rPr lang="en-US" sz="2400" dirty="0" smtClean="0"/>
              <a:t> Ops vs PR/CO (continued)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 smtClean="0"/>
              <a:t>Note </a:t>
            </a:r>
            <a:r>
              <a:rPr lang="en-US" sz="1600" dirty="0"/>
              <a:t>that GL </a:t>
            </a:r>
            <a:r>
              <a:rPr lang="en-US" sz="1600" b="1" dirty="0" smtClean="0"/>
              <a:t>OCCURRENCE </a:t>
            </a:r>
            <a:r>
              <a:rPr lang="en-US" sz="1600" dirty="0" smtClean="0"/>
              <a:t>class </a:t>
            </a:r>
            <a:r>
              <a:rPr lang="en-US" sz="1600" dirty="0"/>
              <a:t>codes </a:t>
            </a:r>
            <a:r>
              <a:rPr lang="en-US" sz="1600" dirty="0" smtClean="0"/>
              <a:t>have </a:t>
            </a:r>
            <a:r>
              <a:rPr lang="en-US" sz="1600" dirty="0"/>
              <a:t>5 </a:t>
            </a:r>
            <a:r>
              <a:rPr lang="en-US" sz="1600" dirty="0" smtClean="0"/>
              <a:t>numbers and fall into 5 </a:t>
            </a:r>
            <a:r>
              <a:rPr lang="en-US" sz="1600" dirty="0" err="1" smtClean="0"/>
              <a:t>caterogies</a:t>
            </a:r>
            <a:r>
              <a:rPr lang="en-US" sz="1600" dirty="0" smtClean="0"/>
              <a:t>:</a:t>
            </a:r>
            <a:endParaRPr lang="en-US" sz="1600" dirty="0"/>
          </a:p>
          <a:p>
            <a:pPr lvl="0"/>
            <a:r>
              <a:rPr lang="en-US" sz="1600" dirty="0"/>
              <a:t>10000s: Stores/Distributors/Restaurants</a:t>
            </a:r>
          </a:p>
          <a:p>
            <a:pPr lvl="0"/>
            <a:r>
              <a:rPr lang="en-US" sz="1600" dirty="0"/>
              <a:t>40000s: Business Operations/Vacant Land</a:t>
            </a:r>
          </a:p>
          <a:p>
            <a:pPr lvl="0"/>
            <a:r>
              <a:rPr lang="en-US" sz="1600" dirty="0"/>
              <a:t>50000s: Products/Manufacturers</a:t>
            </a:r>
          </a:p>
          <a:p>
            <a:pPr lvl="0"/>
            <a:r>
              <a:rPr lang="en-US" sz="1600" dirty="0"/>
              <a:t>60000s: LROs/Habitational	</a:t>
            </a:r>
          </a:p>
          <a:p>
            <a:pPr lvl="0"/>
            <a:r>
              <a:rPr lang="en-US" sz="1600" dirty="0"/>
              <a:t>90000s: </a:t>
            </a:r>
            <a:r>
              <a:rPr lang="en-US" sz="1600" dirty="0" smtClean="0"/>
              <a:t>Contractors</a:t>
            </a:r>
          </a:p>
          <a:p>
            <a:pPr marL="0" indent="0">
              <a:buNone/>
            </a:pPr>
            <a:r>
              <a:rPr lang="en-US" sz="1600" dirty="0" smtClean="0"/>
              <a:t>40000s and 60000s have no PR/CO exposure as they are premises exposures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Location effects the premises rate</a:t>
            </a:r>
          </a:p>
          <a:p>
            <a:pPr>
              <a:buFontTx/>
              <a:buChar char="-"/>
            </a:pPr>
            <a:r>
              <a:rPr lang="en-US" sz="1600" dirty="0" smtClean="0"/>
              <a:t>NYC higher </a:t>
            </a:r>
            <a:r>
              <a:rPr lang="en-US" sz="1600" dirty="0" err="1" smtClean="0"/>
              <a:t>prem</a:t>
            </a:r>
            <a:r>
              <a:rPr lang="en-US" sz="1600" dirty="0" smtClean="0"/>
              <a:t>/ops rate then Louisiana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Type of construction and possible losses effects rate</a:t>
            </a:r>
          </a:p>
          <a:p>
            <a:pPr>
              <a:buFontTx/>
              <a:buChar char="-"/>
            </a:pPr>
            <a:r>
              <a:rPr lang="en-US" sz="1600" dirty="0" smtClean="0"/>
              <a:t>Apartment building rate is $3.00 in NJ - $15K MP</a:t>
            </a:r>
          </a:p>
          <a:p>
            <a:pPr>
              <a:buFontTx/>
              <a:buChar char="-"/>
            </a:pPr>
            <a:r>
              <a:rPr lang="en-US" sz="1600" dirty="0" smtClean="0"/>
              <a:t>Condo building rate is $6.00 in NJ - $25K MP</a:t>
            </a:r>
          </a:p>
          <a:p>
            <a:pPr>
              <a:buFontTx/>
              <a:buChar char="-"/>
            </a:pPr>
            <a:r>
              <a:rPr lang="en-US" sz="1600" dirty="0" smtClean="0"/>
              <a:t>Why the difference?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Projects – why all those debits now? ECO – our limits are tied up for that full year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7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3877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Markel rate risks?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Two Ways:</a:t>
            </a:r>
          </a:p>
          <a:p>
            <a:pPr>
              <a:buAutoNum type="arabicPeriod"/>
            </a:pPr>
            <a:r>
              <a:rPr lang="en-US" sz="1600" b="1" dirty="0" smtClean="0"/>
              <a:t>Slot Rates – provided in guidelines</a:t>
            </a:r>
          </a:p>
          <a:p>
            <a:pPr lvl="1"/>
            <a:r>
              <a:rPr lang="en-US" sz="1600" dirty="0" smtClean="0"/>
              <a:t>Use for General Contractors on a practice and project basis</a:t>
            </a:r>
          </a:p>
          <a:p>
            <a:pPr lvl="1"/>
            <a:r>
              <a:rPr lang="en-US" sz="1600" dirty="0" smtClean="0"/>
              <a:t>Work must be subbed out for this</a:t>
            </a:r>
          </a:p>
          <a:p>
            <a:pPr>
              <a:buAutoNum type="arabicPeriod"/>
            </a:pPr>
            <a:r>
              <a:rPr lang="en-US" sz="1600" b="1" dirty="0" smtClean="0"/>
              <a:t>Rater – using ISO equation (Base Rate x ILF x LCM – DC)</a:t>
            </a:r>
            <a:endParaRPr lang="en-US" sz="1600" b="1" dirty="0"/>
          </a:p>
          <a:p>
            <a:pPr lvl="1">
              <a:buFontTx/>
              <a:buChar char="-"/>
            </a:pPr>
            <a:r>
              <a:rPr lang="en-US" sz="1600" dirty="0" smtClean="0"/>
              <a:t>Use for Artisan Contractors doing direct work</a:t>
            </a:r>
          </a:p>
          <a:p>
            <a:pPr lvl="1">
              <a:buFontTx/>
              <a:buChar char="-"/>
            </a:pPr>
            <a:r>
              <a:rPr lang="en-US" sz="1600" dirty="0" smtClean="0"/>
              <a:t>Use for product occurrence risks</a:t>
            </a:r>
          </a:p>
          <a:p>
            <a:pPr lvl="1">
              <a:buFontTx/>
              <a:buChar char="-"/>
            </a:pPr>
            <a:endParaRPr lang="en-US" sz="1600" dirty="0"/>
          </a:p>
          <a:p>
            <a:pPr lvl="1">
              <a:buFontTx/>
              <a:buChar char="-"/>
            </a:pPr>
            <a:endParaRPr lang="en-US" sz="1600" dirty="0" smtClean="0"/>
          </a:p>
          <a:p>
            <a:pPr marL="457200" lvl="1" indent="0">
              <a:buNone/>
            </a:pPr>
            <a:endParaRPr lang="en-US" sz="16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8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764434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Rates and Premium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 smtClean="0"/>
              <a:t>How does this work?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Depends on the class and if the policy is auditable or not</a:t>
            </a:r>
          </a:p>
          <a:p>
            <a:r>
              <a:rPr lang="en-US" sz="2000" dirty="0" smtClean="0"/>
              <a:t>40000s and 60000s series are not auditable – based on units, acres, area, </a:t>
            </a:r>
            <a:r>
              <a:rPr lang="en-US" sz="2000" dirty="0" err="1" smtClean="0"/>
              <a:t>etc</a:t>
            </a:r>
            <a:r>
              <a:rPr lang="en-US" sz="2000" dirty="0" smtClean="0"/>
              <a:t> – all things that are set, not estimates</a:t>
            </a:r>
          </a:p>
          <a:p>
            <a:pPr lvl="1"/>
            <a:r>
              <a:rPr lang="en-US" sz="2000" dirty="0" smtClean="0"/>
              <a:t>If you are covering 1 apartment building with 14 units at the start of the policy how many units are you covering at the end?</a:t>
            </a:r>
          </a:p>
          <a:p>
            <a:r>
              <a:rPr lang="en-US" sz="2000" dirty="0" smtClean="0"/>
              <a:t>10000s, 50000s, and 90000s are auditable – based on sales, cost – all things that are estimated for the upcoming term and can change</a:t>
            </a:r>
          </a:p>
          <a:p>
            <a:pPr lvl="1"/>
            <a:r>
              <a:rPr lang="en-US" sz="2000" dirty="0" smtClean="0"/>
              <a:t>GC can estimate to do $2MM worth of sales but loss a job and only do $1MM</a:t>
            </a:r>
          </a:p>
          <a:p>
            <a:pPr lvl="1"/>
            <a:r>
              <a:rPr lang="en-US" sz="2000" dirty="0" smtClean="0"/>
              <a:t>A new product can hit the market and expect $500,000 in sales but end up selling $2MM when an influencer is seen using it</a:t>
            </a:r>
          </a:p>
          <a:p>
            <a:endParaRPr lang="en-US" sz="2000" dirty="0" smtClean="0"/>
          </a:p>
          <a:p>
            <a:pPr marL="457200" lvl="1" indent="0">
              <a:buNone/>
            </a:pPr>
            <a:endParaRPr lang="en-US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9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86936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Rates and Premium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 smtClean="0"/>
              <a:t>How does this work?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For Risks whose exposure is sales, cost or payroll:</a:t>
            </a:r>
          </a:p>
          <a:p>
            <a:pPr marL="0" indent="0">
              <a:buNone/>
            </a:pPr>
            <a:r>
              <a:rPr lang="en-US" sz="2000" b="1" dirty="0" smtClean="0"/>
              <a:t>Premium: Exposure x Rate/1,000</a:t>
            </a:r>
          </a:p>
          <a:p>
            <a:r>
              <a:rPr lang="en-US" sz="2000" dirty="0" smtClean="0"/>
              <a:t>Exposure is the sales, cost or payroll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For Risks </a:t>
            </a:r>
            <a:r>
              <a:rPr lang="en-US" sz="2000" dirty="0" smtClean="0"/>
              <a:t>whose exposure is units, acres or areas: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Premium: Exposure x </a:t>
            </a:r>
            <a:r>
              <a:rPr lang="en-US" sz="2000" b="1" dirty="0" smtClean="0"/>
              <a:t>Rate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*If you quote something flat though, it’s not auditable as there is either no rate or it’s a flat charge</a:t>
            </a:r>
          </a:p>
          <a:p>
            <a:pPr marL="0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endParaRPr lang="en-US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10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67163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Rates and Premium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 smtClean="0"/>
              <a:t>How does this work?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For Risks whose exposure is sales, cost or payroll:</a:t>
            </a:r>
          </a:p>
          <a:p>
            <a:pPr marL="0" indent="0">
              <a:buNone/>
            </a:pPr>
            <a:r>
              <a:rPr lang="en-US" sz="2000" b="1" dirty="0" smtClean="0"/>
              <a:t>Premium: Exposure x Rate/1,000</a:t>
            </a:r>
          </a:p>
          <a:p>
            <a:r>
              <a:rPr lang="en-US" sz="2000" dirty="0" smtClean="0"/>
              <a:t>Exposure is the sales, cost or payroll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For Risks </a:t>
            </a:r>
            <a:r>
              <a:rPr lang="en-US" sz="2000" dirty="0" smtClean="0"/>
              <a:t>whose exposure is units, acres or areas: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Premium: Exposure x </a:t>
            </a:r>
            <a:r>
              <a:rPr lang="en-US" sz="2000" b="1" dirty="0" smtClean="0"/>
              <a:t>Rate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*If you quote something flat though, it’s not auditable as there is either no rate or it’s a flat charge</a:t>
            </a:r>
          </a:p>
          <a:p>
            <a:pPr marL="0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endParaRPr lang="en-US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11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39125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Free Growth work then?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For Risks whose exposure is sales, cost or payroll:</a:t>
            </a:r>
          </a:p>
          <a:p>
            <a:pPr marL="0" indent="0">
              <a:buNone/>
            </a:pPr>
            <a:r>
              <a:rPr lang="en-US" sz="1600" b="1" dirty="0"/>
              <a:t>Premium: Exposure x Rate/1,000</a:t>
            </a:r>
          </a:p>
          <a:p>
            <a:r>
              <a:rPr lang="en-US" sz="1600" dirty="0"/>
              <a:t>Exposure is the sales, cost or </a:t>
            </a:r>
            <a:r>
              <a:rPr lang="en-US" sz="1600" dirty="0" smtClean="0"/>
              <a:t>payroll</a:t>
            </a:r>
          </a:p>
          <a:p>
            <a:pPr marL="0" indent="0">
              <a:buNone/>
            </a:pP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Risk is an GC is NY</a:t>
            </a:r>
          </a:p>
          <a:p>
            <a:pPr marL="0" indent="0">
              <a:buNone/>
            </a:pPr>
            <a:r>
              <a:rPr lang="en-US" sz="1600" dirty="0" smtClean="0"/>
              <a:t>$1MM in sales building custom homes</a:t>
            </a:r>
          </a:p>
          <a:p>
            <a:pPr marL="0" indent="0">
              <a:buNone/>
            </a:pPr>
            <a:r>
              <a:rPr lang="en-US" sz="1600" dirty="0" smtClean="0"/>
              <a:t>Slot rate is $10.00</a:t>
            </a:r>
          </a:p>
          <a:p>
            <a:pPr marL="0" indent="0">
              <a:buNone/>
            </a:pPr>
            <a:r>
              <a:rPr lang="en-US" sz="1600" dirty="0" smtClean="0"/>
              <a:t>$10.00 x $1,000,000/1,000 = $10,000</a:t>
            </a:r>
          </a:p>
          <a:p>
            <a:pPr marL="0" indent="0">
              <a:buNone/>
            </a:pPr>
            <a:r>
              <a:rPr lang="en-US" sz="1600" dirty="0" smtClean="0"/>
              <a:t>Our MP for NY is $45,000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To see the free growth reverse the equation like we learned in math classes:</a:t>
            </a:r>
          </a:p>
          <a:p>
            <a:pPr marL="0" indent="0">
              <a:buNone/>
            </a:pPr>
            <a:r>
              <a:rPr lang="en-US" sz="1600" dirty="0" smtClean="0"/>
              <a:t>If premium = exposure x rate to find out the max exposure divide the rate by the premium</a:t>
            </a:r>
          </a:p>
          <a:p>
            <a:pPr marL="0" indent="0">
              <a:buNone/>
            </a:pPr>
            <a:r>
              <a:rPr lang="en-US" sz="1600" dirty="0" smtClean="0"/>
              <a:t>$45,000/$10.00 (x 1,000) = $4,500,000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In this scenario this risk has free growth up to $4,500,000 in sales for the $45K MP at a $10.00 rate.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12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94605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does Free Growth work then?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 smtClean="0"/>
              <a:t>Exercise in Free Growth Calculation</a:t>
            </a:r>
            <a:endParaRPr lang="en-US" sz="1800" b="1" dirty="0"/>
          </a:p>
          <a:p>
            <a:pPr marL="0" indent="0">
              <a:buNone/>
            </a:pPr>
            <a:r>
              <a:rPr lang="en-US" sz="1600" b="1" dirty="0" smtClean="0"/>
              <a:t>Remember: Premium</a:t>
            </a:r>
            <a:r>
              <a:rPr lang="en-US" sz="1600" b="1" dirty="0"/>
              <a:t>: Exposure x </a:t>
            </a:r>
            <a:r>
              <a:rPr lang="en-US" sz="1600" b="1" dirty="0" smtClean="0"/>
              <a:t>Rate/1,000</a:t>
            </a:r>
          </a:p>
          <a:p>
            <a:pPr marL="0" indent="0">
              <a:buNone/>
            </a:pPr>
            <a:r>
              <a:rPr lang="en-US" sz="1600" b="1" dirty="0" smtClean="0"/>
              <a:t>Reverse it to: Premium/Rate x 1,000 = Exposure</a:t>
            </a:r>
            <a:endParaRPr lang="en-US" sz="1600" b="1" dirty="0"/>
          </a:p>
          <a:p>
            <a:pPr marL="0" indent="0">
              <a:buNone/>
            </a:pP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1. Risk has a $17.50 rate on $2,500,000 in sales. MP is $45,000 – What is the free growth?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2. Risk has $2.37 rate on $1,750,000 in sales. MP is $5,000. What is the free growth?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800" b="1" dirty="0" smtClean="0"/>
              <a:t>To stretch this concept: MEGL 1895 and MEGL 2202 provides 5% free growth.</a:t>
            </a:r>
          </a:p>
          <a:p>
            <a:pPr marL="0" indent="0">
              <a:buNone/>
            </a:pPr>
            <a:endParaRPr lang="en-US" sz="1800" b="1" dirty="0" smtClean="0"/>
          </a:p>
          <a:p>
            <a:pPr marL="0" indent="0">
              <a:buNone/>
            </a:pPr>
            <a:r>
              <a:rPr lang="en-US" sz="1600" dirty="0" smtClean="0"/>
              <a:t>If you have a risk that has a $5,000 MP at $1,000,000 in sales and you are providing 5% free growth – how does this work?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13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213431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we get rate increases?</a:t>
            </a:r>
            <a:r>
              <a:rPr lang="en-US" dirty="0"/>
              <a:t/>
            </a:r>
            <a:br>
              <a:rPr lang="en-US" dirty="0"/>
            </a:br>
            <a:r>
              <a:rPr lang="en-US" sz="2000" dirty="0" smtClean="0"/>
              <a:t>Renewal Talk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smtClean="0"/>
              <a:t>Actuary advise what the rate need is based upon our loss experience, expenses, targets and book mix to meet our goals</a:t>
            </a:r>
          </a:p>
          <a:p>
            <a:pPr>
              <a:buFontTx/>
              <a:buChar char="-"/>
            </a:pPr>
            <a:r>
              <a:rPr lang="en-US" sz="2000" dirty="0" smtClean="0"/>
              <a:t>Meet </a:t>
            </a:r>
            <a:r>
              <a:rPr lang="en-US" sz="2000" dirty="0"/>
              <a:t>our goals </a:t>
            </a:r>
            <a:r>
              <a:rPr lang="en-US" sz="2000" dirty="0" smtClean="0"/>
              <a:t> </a:t>
            </a:r>
          </a:p>
          <a:p>
            <a:pPr lvl="1">
              <a:buFontTx/>
              <a:buChar char="-"/>
            </a:pPr>
            <a:r>
              <a:rPr lang="en-US" sz="2000" dirty="0" smtClean="0"/>
              <a:t>10/5/1 – 5 year goal</a:t>
            </a:r>
          </a:p>
          <a:p>
            <a:pPr lvl="1">
              <a:buFontTx/>
              <a:buChar char="-"/>
            </a:pPr>
            <a:r>
              <a:rPr lang="en-US" sz="2000" dirty="0" smtClean="0"/>
              <a:t>Combined Ratio – yearly profit goal</a:t>
            </a:r>
          </a:p>
          <a:p>
            <a:pPr lvl="1">
              <a:buFontTx/>
              <a:buChar char="-"/>
            </a:pPr>
            <a:r>
              <a:rPr lang="en-US" sz="2000" dirty="0" smtClean="0"/>
              <a:t>Budget – yearly premium goal</a:t>
            </a:r>
            <a:endParaRPr lang="en-US" sz="2000" dirty="0"/>
          </a:p>
          <a:p>
            <a:pPr>
              <a:buFontTx/>
              <a:buChar char="-"/>
            </a:pPr>
            <a:r>
              <a:rPr lang="en-US" sz="2000" dirty="0" smtClean="0"/>
              <a:t>Social Inflation – to keep up with costs of paying the losses</a:t>
            </a:r>
          </a:p>
          <a:p>
            <a:pPr lvl="1">
              <a:buFontTx/>
              <a:buChar char="-"/>
            </a:pPr>
            <a:r>
              <a:rPr lang="en-US" sz="2000" dirty="0" smtClean="0"/>
              <a:t>What did we learn from the mock trial?</a:t>
            </a:r>
          </a:p>
          <a:p>
            <a:pPr>
              <a:buFontTx/>
              <a:buChar char="-"/>
            </a:pPr>
            <a:r>
              <a:rPr lang="en-US" sz="2000" dirty="0" smtClean="0"/>
              <a:t>Losses</a:t>
            </a:r>
          </a:p>
          <a:p>
            <a:pPr lvl="1">
              <a:buFontTx/>
              <a:buChar char="-"/>
            </a:pPr>
            <a:r>
              <a:rPr lang="en-US" sz="2000" dirty="0" smtClean="0"/>
              <a:t>Can we make </a:t>
            </a:r>
            <a:r>
              <a:rPr lang="en-US" sz="2000" dirty="0" smtClean="0"/>
              <a:t>an account profitable?</a:t>
            </a:r>
            <a:endParaRPr lang="en-US" sz="2000" dirty="0" smtClean="0"/>
          </a:p>
          <a:p>
            <a:pPr>
              <a:buFontTx/>
              <a:buChar char="-"/>
            </a:pPr>
            <a:r>
              <a:rPr lang="en-US" sz="2000" dirty="0" smtClean="0"/>
              <a:t>To reduce our expense ratio 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r>
              <a:rPr lang="en-US" sz="2000" b="1" dirty="0" smtClean="0"/>
              <a:t>Remember Combined Ratio = Loss Ratio + Expense Ratio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14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82822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Rate and Audits</a:t>
            </a:r>
            <a:br>
              <a:rPr lang="en-US" dirty="0" smtClean="0"/>
            </a:br>
            <a:r>
              <a:rPr lang="en-US" sz="2000" dirty="0" smtClean="0"/>
              <a:t>How is the rate used in an audit?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66700" y="1295400"/>
            <a:ext cx="8639175" cy="484187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 smtClean="0"/>
              <a:t>Products risk </a:t>
            </a:r>
          </a:p>
          <a:p>
            <a:pPr marL="0" indent="0">
              <a:buNone/>
            </a:pPr>
            <a:r>
              <a:rPr lang="en-US" sz="1800" b="1" dirty="0" smtClean="0"/>
              <a:t>$1,000,000 in sales at $2,300 CM – policy rate is $2.30</a:t>
            </a:r>
          </a:p>
          <a:p>
            <a:r>
              <a:rPr lang="en-US" sz="1800" dirty="0" smtClean="0"/>
              <a:t>They had a great year – they do $2,000,000 in sales!</a:t>
            </a:r>
          </a:p>
          <a:p>
            <a:r>
              <a:rPr lang="en-US" sz="1800" dirty="0" smtClean="0"/>
              <a:t>The policy was based on $1MM x $2.30/1000 = $2,300</a:t>
            </a:r>
          </a:p>
          <a:p>
            <a:r>
              <a:rPr lang="en-US" sz="1800" dirty="0" smtClean="0"/>
              <a:t>The audit is based on $2MM x $2.30/1000 = $4,600</a:t>
            </a:r>
          </a:p>
          <a:p>
            <a:r>
              <a:rPr lang="en-US" sz="1800" dirty="0" smtClean="0"/>
              <a:t>They owe us $2,300</a:t>
            </a:r>
          </a:p>
          <a:p>
            <a:pPr marL="0" indent="0"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 smtClean="0"/>
              <a:t>You try it!</a:t>
            </a:r>
            <a:endParaRPr lang="en-US" sz="2000" dirty="0" smtClean="0"/>
          </a:p>
          <a:p>
            <a:r>
              <a:rPr lang="en-US" sz="2000" dirty="0" smtClean="0"/>
              <a:t>GC - $100,000 in premium, $10,000,000 in sales, $10.00 rate with </a:t>
            </a:r>
            <a:r>
              <a:rPr lang="en-US" sz="2000" dirty="0"/>
              <a:t>5</a:t>
            </a:r>
            <a:r>
              <a:rPr lang="en-US" sz="2000" dirty="0" smtClean="0"/>
              <a:t>% free growth endorsement</a:t>
            </a:r>
          </a:p>
          <a:p>
            <a:r>
              <a:rPr lang="en-US" sz="2000" dirty="0" smtClean="0"/>
              <a:t>Insured does </a:t>
            </a:r>
            <a:r>
              <a:rPr lang="en-US" sz="2000" smtClean="0"/>
              <a:t>$10,756,325 </a:t>
            </a:r>
            <a:r>
              <a:rPr lang="en-US" sz="2000" dirty="0" smtClean="0"/>
              <a:t>in sales</a:t>
            </a:r>
          </a:p>
          <a:p>
            <a:r>
              <a:rPr lang="en-US" sz="2000" dirty="0" smtClean="0"/>
              <a:t>What’s the audit AP?</a:t>
            </a:r>
          </a:p>
          <a:p>
            <a:pPr marL="0" indent="0">
              <a:buNone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E1B09C-F10A-40DF-9917-CCBC490C704D}" type="slidenum">
              <a:rPr lang="en-GB" altLang="en-US" smtClean="0"/>
              <a:pPr/>
              <a:t>15</a:t>
            </a:fld>
            <a:endParaRPr lang="en-GB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altLang="en-US" dirty="0" smtClean="0"/>
              <a:t>Markel Confidential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44070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 smtClean="0"/>
              <a:t>Questions?</a:t>
            </a:r>
            <a:br>
              <a:rPr lang="en-US" altLang="en-US" dirty="0" smtClean="0"/>
            </a:br>
            <a:r>
              <a:rPr lang="en-US" altLang="en-US" sz="2800" dirty="0" smtClean="0"/>
              <a:t>Ask away!</a:t>
            </a: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ginning">
  <a:themeElements>
    <a:clrScheme name="Beginning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eginnin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ginn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ginn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ginn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ginn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ginn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ginn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ginn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ginn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ginn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ginn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ginn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ginn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iddle">
  <a:themeElements>
    <a:clrScheme name="Middle 1">
      <a:dk1>
        <a:srgbClr val="616365"/>
      </a:dk1>
      <a:lt1>
        <a:srgbClr val="FFFFFF"/>
      </a:lt1>
      <a:dk2>
        <a:srgbClr val="A0A1A3"/>
      </a:dk2>
      <a:lt2>
        <a:srgbClr val="818284"/>
      </a:lt2>
      <a:accent1>
        <a:srgbClr val="DFE0E0"/>
      </a:accent1>
      <a:accent2>
        <a:srgbClr val="B71234"/>
      </a:accent2>
      <a:accent3>
        <a:srgbClr val="FFFFFF"/>
      </a:accent3>
      <a:accent4>
        <a:srgbClr val="525355"/>
      </a:accent4>
      <a:accent5>
        <a:srgbClr val="ECEDED"/>
      </a:accent5>
      <a:accent6>
        <a:srgbClr val="A60F2E"/>
      </a:accent6>
      <a:hlink>
        <a:srgbClr val="616365"/>
      </a:hlink>
      <a:folHlink>
        <a:srgbClr val="616365"/>
      </a:folHlink>
    </a:clrScheme>
    <a:fontScheme name="Middle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iddle 1">
        <a:dk1>
          <a:srgbClr val="616365"/>
        </a:dk1>
        <a:lt1>
          <a:srgbClr val="FFFFFF"/>
        </a:lt1>
        <a:dk2>
          <a:srgbClr val="A0A1A3"/>
        </a:dk2>
        <a:lt2>
          <a:srgbClr val="818284"/>
        </a:lt2>
        <a:accent1>
          <a:srgbClr val="DFE0E0"/>
        </a:accent1>
        <a:accent2>
          <a:srgbClr val="B71234"/>
        </a:accent2>
        <a:accent3>
          <a:srgbClr val="FFFFFF"/>
        </a:accent3>
        <a:accent4>
          <a:srgbClr val="525355"/>
        </a:accent4>
        <a:accent5>
          <a:srgbClr val="ECEDED"/>
        </a:accent5>
        <a:accent6>
          <a:srgbClr val="A60F2E"/>
        </a:accent6>
        <a:hlink>
          <a:srgbClr val="616365"/>
        </a:hlink>
        <a:folHlink>
          <a:srgbClr val="61636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End">
  <a:themeElements>
    <a:clrScheme name="E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nd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n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n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n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227093-0b21-47a2-be54-96c7133cf6d3"/>
    <MarkelLocationTaxHTField0 xmlns="EA543005-7DB5-4969-876F-DB2C95DB3442">
      <Terms xmlns="http://schemas.microsoft.com/office/infopath/2007/PartnerControls"/>
    </MarkelLocationTaxHTField0>
    <ReportOwner xmlns="http://schemas.microsoft.com/sharepoint/v3">
      <UserInfo>
        <DisplayName>Howell, Kelly</DisplayName>
        <AccountId>465</AccountId>
        <AccountType/>
      </UserInfo>
    </ReportOwner>
    <MarkelDepartmentTaxHTField0 xmlns="EA543005-7DB5-4969-876F-DB2C95DB3442">
      <Terms xmlns="http://schemas.microsoft.com/office/infopath/2007/PartnerControls">
        <TermInfo xmlns="http://schemas.microsoft.com/office/infopath/2007/PartnerControls">
          <TermName xmlns="http://schemas.microsoft.com/office/infopath/2007/PartnerControls">Marketing and Business Development</TermName>
          <TermId xmlns="http://schemas.microsoft.com/office/infopath/2007/PartnerControls">85eb8ff2-7a65-4b18-bd29-985a3d66122e</TermId>
        </TermInfo>
      </Terms>
    </MarkelDepartmentTaxHTField0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Markel Document" ma:contentTypeID="0x0101002F69C857934E491AA916DFC9D1FBD72900D6129C1112EE1140B6C521E77702975B" ma:contentTypeVersion="0" ma:contentTypeDescription="Base content type for all Markel documents." ma:contentTypeScope="" ma:versionID="81ab6917c38f7658e20fe0391ea586e6">
  <xsd:schema xmlns:xsd="http://www.w3.org/2001/XMLSchema" xmlns:xs="http://www.w3.org/2001/XMLSchema" xmlns:p="http://schemas.microsoft.com/office/2006/metadata/properties" xmlns:ns1="http://schemas.microsoft.com/sharepoint/v3" xmlns:ns3="EA543005-7DB5-4969-876F-DB2C95DB3442" xmlns:ns4="74227093-0b21-47a2-be54-96c7133cf6d3" xmlns:ns5="ea543005-7db5-4969-876f-db2c95db3442" targetNamespace="http://schemas.microsoft.com/office/2006/metadata/properties" ma:root="true" ma:fieldsID="8444d6f58bae5f171462878bd95909b1" ns1:_="" ns3:_="" ns4:_="" ns5:_="">
    <xsd:import namespace="http://schemas.microsoft.com/sharepoint/v3"/>
    <xsd:import namespace="EA543005-7DB5-4969-876F-DB2C95DB3442"/>
    <xsd:import namespace="74227093-0b21-47a2-be54-96c7133cf6d3"/>
    <xsd:import namespace="ea543005-7db5-4969-876f-db2c95db3442"/>
    <xsd:element name="properties">
      <xsd:complexType>
        <xsd:sequence>
          <xsd:element name="documentManagement">
            <xsd:complexType>
              <xsd:all>
                <xsd:element ref="ns1:ReportOwner"/>
                <xsd:element ref="ns3:MarkelDepartmentTaxHTField0" minOccurs="0"/>
                <xsd:element ref="ns3:MarkelLocationTaxHTField0" minOccurs="0"/>
                <xsd:element ref="ns4:TaxCatchAll" minOccurs="0"/>
                <xsd:element ref="ns4:TaxCatchAllLabel" minOccurs="0"/>
                <xsd:element ref="ns5:DisplayTitle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eportOwner" ma:index="3" ma:displayName="Owner" ma:description="Owner of this document" ma:list="UserInfo" ma:internalName="Report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43005-7DB5-4969-876F-DB2C95DB3442" elementFormDefault="qualified">
    <xsd:import namespace="http://schemas.microsoft.com/office/2006/documentManagement/types"/>
    <xsd:import namespace="http://schemas.microsoft.com/office/infopath/2007/PartnerControls"/>
    <xsd:element name="MarkelDepartmentTaxHTField0" ma:index="5" ma:taxonomy="true" ma:internalName="MarkelDepartmentTaxHTField0" ma:taxonomyFieldName="MarkelDepartment" ma:displayName="Markel Department" ma:fieldId="{1957b16a-1814-4742-9283-6e1361d88007}" ma:sspId="d6233fd2-fa7f-4178-bfa9-0895385a0058" ma:termSetId="90fdfed4-bf1e-4d29-890b-71c7fce1fa4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rkelLocationTaxHTField0" ma:index="7" nillable="true" ma:taxonomy="true" ma:internalName="MarkelLocationTaxHTField0" ma:taxonomyFieldName="MarkelLocation" ma:displayName="Markel Location" ma:fieldId="{2a4684e1-0c4d-4d2d-a000-4dbea61d4f4a}" ma:sspId="d6233fd2-fa7f-4178-bfa9-0895385a0058" ma:termSetId="00d47e97-d4ff-4db5-8bae-3ece2b1e7fcf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227093-0b21-47a2-be54-96c7133cf6d3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CatchAll" ma:description="" ma:hidden="true" ma:list="{11470dc6-316c-4bbf-9162-0f8e6964a417}" ma:internalName="TaxCatchAll" ma:showField="CatchAllData" ma:web="74227093-0b21-47a2-be54-96c7133cf6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CatchAllLabel" ma:description="" ma:hidden="true" ma:list="{11470dc6-316c-4bbf-9162-0f8e6964a417}" ma:internalName="TaxCatchAllLabel" ma:readOnly="true" ma:showField="CatchAllDataLabel" ma:web="74227093-0b21-47a2-be54-96c7133cf6d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43005-7db5-4969-876f-db2c95db3442" elementFormDefault="qualified">
    <xsd:import namespace="http://schemas.microsoft.com/office/2006/documentManagement/types"/>
    <xsd:import namespace="http://schemas.microsoft.com/office/infopath/2007/PartnerControls"/>
    <xsd:element name="DisplayTitle" ma:index="11" ma:displayName="Display Title" ma:description="Long-form title for an item." ma:internalName="DisplayTitl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/>
        <xsd:element ref="dc:title" maxOccurs="1" ma:index="1" ma:displayName="Title"/>
        <xsd:element ref="dc:subject" minOccurs="0" maxOccurs="1"/>
        <xsd:element ref="dc:description" minOccurs="0" maxOccurs="1"/>
        <xsd:element name="keywords" maxOccurs="1" ma:index="2" ma:displayName="Keywords">
          <xsd:simpleType xmlns:xs="http://www.w3.org/2001/XMLSchema">
            <xsd:restriction base="xsd:string">
              <xsd:minLength value="1"/>
            </xsd:restriction>
          </xsd:simpleType>
        </xsd:element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F97ED271-0736-4422-8847-E4E577609339}">
  <ds:schemaRefs>
    <ds:schemaRef ds:uri="http://schemas.microsoft.com/office/2006/metadata/properties"/>
    <ds:schemaRef ds:uri="http://schemas.microsoft.com/office/infopath/2007/PartnerControls"/>
    <ds:schemaRef ds:uri="74227093-0b21-47a2-be54-96c7133cf6d3"/>
    <ds:schemaRef ds:uri="EA543005-7DB5-4969-876F-DB2C95DB3442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821D9EE6-7D1D-4263-A63C-D897BBC515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A543005-7DB5-4969-876F-DB2C95DB3442"/>
    <ds:schemaRef ds:uri="74227093-0b21-47a2-be54-96c7133cf6d3"/>
    <ds:schemaRef ds:uri="ea543005-7db5-4969-876f-db2c95db34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79CC36-8A8D-466E-B61C-DDBB3D544E79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4BCBFC9E-BC76-4E99-BCD4-CA12A8A02A6F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5456</TotalTime>
  <Words>1039</Words>
  <Application>Microsoft Office PowerPoint</Application>
  <PresentationFormat>On-screen Show (4:3)</PresentationFormat>
  <Paragraphs>172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Lucida Grande</vt:lpstr>
      <vt:lpstr>Tahoma</vt:lpstr>
      <vt:lpstr>Wingdings</vt:lpstr>
      <vt:lpstr>Beginning</vt:lpstr>
      <vt:lpstr>Middle</vt:lpstr>
      <vt:lpstr>End</vt:lpstr>
      <vt:lpstr>Markel Rate Presentation</vt:lpstr>
      <vt:lpstr>Rates What we are going to learn about</vt:lpstr>
      <vt:lpstr>How is Rate Determined?</vt:lpstr>
      <vt:lpstr>How is Rate Determined? Parts of the Rate</vt:lpstr>
      <vt:lpstr>How is Rate Determined? Parts of the Rate (continued)</vt:lpstr>
      <vt:lpstr>Components of a Rate Premises Operations vs Products/Completed Ops</vt:lpstr>
      <vt:lpstr>Components of a Rate Prem Ops vs PR/CO (continued)</vt:lpstr>
      <vt:lpstr>How does Markel rate risks?</vt:lpstr>
      <vt:lpstr>Rates and Premium How does this work?</vt:lpstr>
      <vt:lpstr>Rates and Premium How does this work?</vt:lpstr>
      <vt:lpstr>Rates and Premium How does this work?</vt:lpstr>
      <vt:lpstr>How does Free Growth work then?</vt:lpstr>
      <vt:lpstr>How does Free Growth work then?</vt:lpstr>
      <vt:lpstr>Why do we get rate increases? Renewal Talk</vt:lpstr>
      <vt:lpstr>Rate and Audits How is the rate used in an audit?</vt:lpstr>
      <vt:lpstr>Questions? Ask away!</vt:lpstr>
    </vt:vector>
  </TitlesOfParts>
  <Company>Markel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Markel PowerPoint Template</dc:title>
  <dc:creator>mesmith</dc:creator>
  <cp:keywords>PowerPoint, template</cp:keywords>
  <cp:lastModifiedBy>Dennebaum, Julia</cp:lastModifiedBy>
  <cp:revision>136</cp:revision>
  <cp:lastPrinted>2019-04-18T12:57:59Z</cp:lastPrinted>
  <dcterms:created xsi:type="dcterms:W3CDTF">2013-05-06T19:13:59Z</dcterms:created>
  <dcterms:modified xsi:type="dcterms:W3CDTF">2020-11-20T14:46:07Z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splay_urn:schemas-microsoft-com:office:office#Markel_x0020_Owner">
    <vt:lpwstr>Williams, Jason</vt:lpwstr>
  </property>
  <property fmtid="{D5CDD505-2E9C-101B-9397-08002B2CF9AE}" pid="3" name="ContentTypeId">
    <vt:lpwstr>0x0101002F69C857934E491AA916DFC9D1FBD72900D6129C1112EE1140B6C521E77702975B</vt:lpwstr>
  </property>
  <property fmtid="{D5CDD505-2E9C-101B-9397-08002B2CF9AE}" pid="4" name="ContentType">
    <vt:lpwstr>Markel Document</vt:lpwstr>
  </property>
  <property fmtid="{D5CDD505-2E9C-101B-9397-08002B2CF9AE}" pid="5" name="MarkelDepartment">
    <vt:lpwstr>12</vt:lpwstr>
  </property>
</Properties>
</file>